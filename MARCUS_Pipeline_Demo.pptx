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FFFFFF"/>
                </a:solidFill>
                <a:latin typeface="Inter"/>
              </a:defRPr>
            </a:pPr>
            <a:r>
              <a:t>MARCUS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94A3B8"/>
                </a:solidFill>
                <a:latin typeface="Inter"/>
              </a:defRPr>
            </a:pPr>
            <a:r>
              <a:t>Multimodal Autonomous Reasoning and Chat</a:t>
            </a:r>
            <a:br/>
            <a:r>
              <a:t>for Ultrasound and Signals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4648" y="301752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4389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94A3B8"/>
                </a:solidFill>
                <a:latin typeface="Inter"/>
              </a:defRPr>
            </a:pPr>
            <a:r>
              <a:t>O'Sullivan JW*, Asadi M*, Elbe L, Chaudhari A, Nedaee T,</a:t>
            </a:r>
            <a:br/>
            <a:r>
              <a:t>Haddad F, Salerno M, Fei-Fei L, Adeli E, Arnaout R, Ashley 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120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64748B"/>
                </a:solidFill>
                <a:latin typeface="Inter"/>
              </a:defRPr>
            </a:pPr>
            <a:r>
              <a:t>STANFORD UNIVERSITY  |  UCSF</a:t>
            </a:r>
          </a:p>
        </p:txBody>
      </p:sp>
    </p:spTree>
  </p:cSld>
  <p:clrMapOvr>
    <a:masterClrMapping/>
  </p:clrMapOvr>
  <p:transition spd="med" advTm="3000">
    <p:fade thruBlk="1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94A3B8"/>
                </a:solidFill>
                <a:latin typeface="Inter"/>
              </a:defRPr>
            </a:pPr>
            <a:r>
              <a:t>THREE MODALITIES, ONE PATIENT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88720" y="1371600"/>
            <a:ext cx="3108960" cy="4114800"/>
          </a:xfrm>
          <a:prstGeom prst="roundRect">
            <a:avLst>
              <a:gd name="adj" fmla="val 15000"/>
            </a:avLst>
          </a:prstGeom>
          <a:solidFill>
            <a:srgbClr val="1A243B"/>
          </a:solidFill>
          <a:ln w="19050">
            <a:solidFill>
              <a:srgbClr val="2D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600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Inter"/>
              </a:defRPr>
            </a:pPr>
            <a:r>
              <a:t>ECG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011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Inter"/>
              </a:defRPr>
            </a:pPr>
            <a:r>
              <a:t>12-lead Electrocardiogram</a:t>
            </a:r>
          </a:p>
        </p:txBody>
      </p:sp>
      <p:pic>
        <p:nvPicPr>
          <p:cNvPr id="6" name="Picture 5" descr="temp_ec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468880"/>
            <a:ext cx="2560320" cy="2560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846320" y="1371600"/>
            <a:ext cx="3108960" cy="4114800"/>
          </a:xfrm>
          <a:prstGeom prst="roundRect">
            <a:avLst>
              <a:gd name="adj" fmla="val 15000"/>
            </a:avLst>
          </a:prstGeom>
          <a:solidFill>
            <a:srgbClr val="1A243B"/>
          </a:solidFill>
          <a:ln w="19050">
            <a:solidFill>
              <a:srgbClr val="2D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600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Inter"/>
              </a:defRPr>
            </a:pPr>
            <a:r>
              <a:t>Echo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011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Inter"/>
              </a:defRPr>
            </a:pPr>
            <a:r>
              <a:t>Echocardiogram</a:t>
            </a:r>
          </a:p>
        </p:txBody>
      </p:sp>
      <p:pic>
        <p:nvPicPr>
          <p:cNvPr id="10" name="Picture 9" descr="echo_fr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468880"/>
            <a:ext cx="2560320" cy="25603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503920" y="1371600"/>
            <a:ext cx="3108960" cy="4114800"/>
          </a:xfrm>
          <a:prstGeom prst="roundRect">
            <a:avLst>
              <a:gd name="adj" fmla="val 15000"/>
            </a:avLst>
          </a:prstGeom>
          <a:solidFill>
            <a:srgbClr val="1A243B"/>
          </a:solidFill>
          <a:ln w="19050">
            <a:solidFill>
              <a:srgbClr val="2D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600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Inter"/>
              </a:defRPr>
            </a:pPr>
            <a:r>
              <a:t>CMR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011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  <a:latin typeface="Inter"/>
              </a:defRPr>
            </a:pPr>
            <a:r>
              <a:t>Cardiac MRI</a:t>
            </a:r>
          </a:p>
        </p:txBody>
      </p:sp>
      <p:pic>
        <p:nvPicPr>
          <p:cNvPr id="14" name="Picture 13" descr="cmr_fr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0" y="2468880"/>
            <a:ext cx="2560320" cy="2560320"/>
          </a:xfrm>
          <a:prstGeom prst="rect">
            <a:avLst/>
          </a:prstGeom>
        </p:spPr>
      </p:pic>
    </p:spTree>
  </p:cSld>
  <p:clrMapOvr>
    <a:masterClrMapping/>
  </p:clrMapOvr>
  <p:transition spd="med" advTm="3000">
    <p:fade thruBlk="1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94A3B8"/>
                </a:solidFill>
                <a:latin typeface="Inter"/>
              </a:defRPr>
            </a:pPr>
            <a:r>
              <a:t>TRAINING AT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1031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 i="0">
                <a:solidFill>
                  <a:srgbClr val="FFFFFF"/>
                </a:solidFill>
                <a:latin typeface="JetBrains Mono"/>
              </a:defRPr>
            </a:pPr>
            <a:r>
              <a:t>13.5M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291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94A3B8"/>
                </a:solidFill>
                <a:latin typeface="Inter"/>
              </a:defRPr>
            </a:pPr>
            <a:r>
              <a:t>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21031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 i="0">
                <a:solidFill>
                  <a:srgbClr val="FFFFFF"/>
                </a:solidFill>
                <a:latin typeface="JetBrains Mono"/>
              </a:defRPr>
            </a:pPr>
            <a:r>
              <a:t>270K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3291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94A3B8"/>
                </a:solidFill>
                <a:latin typeface="Inter"/>
              </a:defRPr>
            </a:pPr>
            <a:r>
              <a:t>Clinical Studies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1031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 i="0">
                <a:solidFill>
                  <a:srgbClr val="FFFFFF"/>
                </a:solidFill>
                <a:latin typeface="JetBrains Mono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3291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94A3B8"/>
                </a:solidFill>
                <a:latin typeface="Inter"/>
              </a:defRPr>
            </a:pPr>
            <a:r>
              <a:t>Expert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389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64748B"/>
                </a:solidFill>
                <a:latin typeface="Inter"/>
              </a:defRPr>
            </a:pPr>
            <a:r>
              <a:t>Physician-verified ground truth across ECG, echocardiography, and cardiac MRI.</a:t>
            </a:r>
            <a:br/>
            <a:r>
              <a:t>Group-relative policy optimization (GRPO) and supervised fine-tuning (SFT).</a:t>
            </a:r>
          </a:p>
        </p:txBody>
      </p:sp>
    </p:spTree>
  </p:cSld>
  <p:clrMapOvr>
    <a:masterClrMapping/>
  </p:clrMapOvr>
  <p:transition spd="med" advTm="3000">
    <p:fade thruBlk="1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94A3B8"/>
                </a:solidFill>
                <a:latin typeface="Inter"/>
              </a:defRPr>
            </a:pPr>
            <a:r>
              <a:t>AGENTIC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286000"/>
            <a:ext cx="2011680" cy="2286000"/>
          </a:xfrm>
          <a:prstGeom prst="roundRect">
            <a:avLst>
              <a:gd name="adj" fmla="val 15000"/>
            </a:avLst>
          </a:prstGeom>
          <a:solidFill>
            <a:srgbClr val="1A24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Inter"/>
              </a:defRPr>
            </a:pPr>
            <a:r>
              <a:t>Patient</a:t>
            </a:r>
            <a:br/>
            <a:r>
              <a:t>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2651760" y="3383280"/>
            <a:ext cx="73152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566160" y="1645920"/>
            <a:ext cx="2011680" cy="640080"/>
          </a:xfrm>
          <a:prstGeom prst="roundRect">
            <a:avLst>
              <a:gd name="adj" fmla="val 15000"/>
            </a:avLst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Inter"/>
              </a:defRPr>
            </a:pPr>
            <a:r>
              <a:t>ECG Expert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2651760"/>
            <a:ext cx="2011680" cy="64008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Inter"/>
              </a:defRPr>
            </a:pPr>
            <a:r>
              <a:t>Echo Expert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3657600"/>
            <a:ext cx="2011680" cy="640080"/>
          </a:xfrm>
          <a:prstGeom prst="roundRect">
            <a:avLst>
              <a:gd name="adj" fmla="val 15000"/>
            </a:avLst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Inter"/>
              </a:defRPr>
            </a:pPr>
            <a:r>
              <a:t>CMR Expert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3383280"/>
            <a:ext cx="73152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0" y="2286000"/>
            <a:ext cx="2011680" cy="2286000"/>
          </a:xfrm>
          <a:prstGeom prst="roundRect">
            <a:avLst>
              <a:gd name="adj" fmla="val 15000"/>
            </a:avLst>
          </a:prstGeom>
          <a:solidFill>
            <a:srgbClr val="78350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Inter"/>
              </a:defRPr>
            </a:pPr>
            <a:r>
              <a:t>Mirage</a:t>
            </a:r>
            <a:br/>
            <a:r>
              <a:t>Probe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69680" y="3383280"/>
            <a:ext cx="73152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84080" y="2286000"/>
            <a:ext cx="2011680" cy="228600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Inter"/>
              </a:defRPr>
            </a:pPr>
            <a:r>
              <a:t>Orchestrator</a:t>
            </a:r>
            <a:br/>
            <a:r>
              <a:t>&amp; Synthesis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94A3B8"/>
                </a:solidFill>
                <a:latin typeface="Inter"/>
              </a:defRPr>
            </a:pPr>
            <a: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4846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94A3B8"/>
                </a:solidFill>
                <a:latin typeface="Inter"/>
              </a:defRPr>
            </a:pPr>
            <a:r>
              <a:t>Specialized Experts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846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94A3B8"/>
                </a:solidFill>
                <a:latin typeface="Inter"/>
              </a:defRPr>
            </a:pPr>
            <a:r>
              <a:t>Hallucination Guard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4846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94A3B8"/>
                </a:solidFill>
                <a:latin typeface="Inter"/>
              </a:defRPr>
            </a:pPr>
            <a:r>
              <a:t>Unified Report</a:t>
            </a:r>
          </a:p>
        </p:txBody>
      </p:sp>
    </p:spTree>
  </p:cSld>
  <p:clrMapOvr>
    <a:masterClrMapping/>
  </p:clrMapOvr>
  <p:transition spd="med" advTm="3000">
    <p:fade thruBlk="1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94A3B8"/>
                </a:solidFill>
                <a:latin typeface="Inter"/>
              </a:defRPr>
            </a:pPr>
            <a:r>
              <a:t>EXPERT ANALYSIS WITH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Inter"/>
              </a:defRPr>
            </a:pPr>
            <a:r>
              <a:t>Input: 12-lead ECG</a:t>
            </a:r>
          </a:p>
        </p:txBody>
      </p:sp>
      <p:pic>
        <p:nvPicPr>
          <p:cNvPr id="4" name="Picture 3" descr="temp_ec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Inter"/>
              </a:defRPr>
            </a:pPr>
            <a:r>
              <a:t>Attention Map: Where the model looks</a:t>
            </a:r>
          </a:p>
        </p:txBody>
      </p:sp>
      <p:pic>
        <p:nvPicPr>
          <p:cNvPr id="6" name="Picture 5" descr="test_heatmap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5029200" cy="3840480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5669280" y="3200400"/>
            <a:ext cx="548640" cy="45720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Tm="3000">
    <p:fade thruBlk="1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94A3B8"/>
                </a:solidFill>
                <a:latin typeface="Inter"/>
              </a:defRPr>
            </a:pPr>
            <a:r>
              <a:t>MIRAGE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Inter"/>
              </a:defRPr>
            </a:pPr>
            <a:r>
              <a:t>Do vision-language models actually see, or just fabricate?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2C55E"/>
                </a:solidFill>
                <a:latin typeface="Inter"/>
              </a:defRPr>
            </a:pPr>
            <a:r>
              <a:t>WITH IMAGE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4389120" cy="548640"/>
          </a:xfrm>
          <a:prstGeom prst="roundRect">
            <a:avLst>
              <a:gd name="adj" fmla="val 15000"/>
            </a:avLst>
          </a:prstGeom>
          <a:solidFill>
            <a:srgbClr val="1A24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8FAFC"/>
                </a:solidFill>
                <a:latin typeface="Inter"/>
              </a:defRPr>
            </a:pPr>
            <a:r>
              <a:t>  Original question  →  Consistent, specific response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74720"/>
            <a:ext cx="4389120" cy="548640"/>
          </a:xfrm>
          <a:prstGeom prst="roundRect">
            <a:avLst>
              <a:gd name="adj" fmla="val 15000"/>
            </a:avLst>
          </a:prstGeom>
          <a:solidFill>
            <a:srgbClr val="1A24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8FAFC"/>
                </a:solidFill>
                <a:latin typeface="Inter"/>
              </a:defRPr>
            </a:pPr>
            <a:r>
              <a:t>  Rephrase 1  →  Consistent, specific response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4389120" cy="548640"/>
          </a:xfrm>
          <a:prstGeom prst="roundRect">
            <a:avLst>
              <a:gd name="adj" fmla="val 15000"/>
            </a:avLst>
          </a:prstGeom>
          <a:solidFill>
            <a:srgbClr val="1A24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8FAFC"/>
                </a:solidFill>
                <a:latin typeface="Inter"/>
              </a:defRPr>
            </a:pPr>
            <a:r>
              <a:t>  Rephrase 2  →  Consistent, specific 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59E0B"/>
                </a:solidFill>
                <a:latin typeface="Inter"/>
              </a:defRPr>
            </a:pPr>
            <a:r>
              <a:t>WITHOUT IMAGE (COUNTERFACTUAL)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743200"/>
            <a:ext cx="4389120" cy="548640"/>
          </a:xfrm>
          <a:prstGeom prst="roundRect">
            <a:avLst>
              <a:gd name="adj" fmla="val 15000"/>
            </a:avLst>
          </a:prstGeom>
          <a:solidFill>
            <a:srgbClr val="1A24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8FAFC"/>
                </a:solidFill>
                <a:latin typeface="Inter"/>
              </a:defRPr>
            </a:pPr>
            <a:r>
              <a:t>  Same question  →  Generic, vague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3B82F6"/>
                </a:solidFill>
                <a:latin typeface="Inter"/>
              </a:defRPr>
            </a:pPr>
            <a:r>
              <a:t>Compare responses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4754880"/>
            <a:ext cx="5486400" cy="1097280"/>
          </a:xfrm>
          <a:prstGeom prst="roundRect">
            <a:avLst>
              <a:gd name="adj" fmla="val 15000"/>
            </a:avLst>
          </a:prstGeom>
          <a:solidFill>
            <a:srgbClr val="0A1E0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Inter"/>
              </a:defRPr>
            </a:pPr>
            <a:r>
              <a:t>High divergence = Grounded analysis (no mirage)</a:t>
            </a:r>
            <a:br/>
            <a:r>
              <a:t>MARCUS: 0% mirage rate vs GPT-4o: 38% vs Gemini: 35%</a:t>
            </a:r>
          </a:p>
        </p:txBody>
      </p:sp>
    </p:spTree>
  </p:cSld>
  <p:clrMapOvr>
    <a:masterClrMapping/>
  </p:clrMapOvr>
  <p:transition spd="med" advTm="3000">
    <p:fade thruBlk="1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94A3B8"/>
                </a:solidFill>
                <a:latin typeface="Inter"/>
              </a:defRPr>
            </a:pPr>
            <a:r>
              <a:t>MULTIMODAL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Inter"/>
              </a:defRPr>
            </a:pPr>
            <a:r>
              <a:t>ECG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560320" cy="1645920"/>
          </a:xfrm>
          <a:prstGeom prst="roundRect">
            <a:avLst>
              <a:gd name="adj" fmla="val 15000"/>
            </a:avLst>
          </a:prstGeom>
          <a:solidFill>
            <a:srgbClr val="1A243B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8FAFC"/>
                </a:solidFill>
                <a:latin typeface="Inter"/>
              </a:defRPr>
            </a:pPr>
            <a:r>
              <a:t>Atrial fibrillation</a:t>
            </a:r>
            <a:br/>
            <a:r>
              <a:t>with rapid ventricular</a:t>
            </a:r>
            <a:br/>
            <a:r>
              <a:t>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Inter"/>
              </a:defRPr>
            </a:pPr>
            <a:r>
              <a:t>Echo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828800"/>
            <a:ext cx="2560320" cy="1645920"/>
          </a:xfrm>
          <a:prstGeom prst="roundRect">
            <a:avLst>
              <a:gd name="adj" fmla="val 15000"/>
            </a:avLst>
          </a:prstGeom>
          <a:solidFill>
            <a:srgbClr val="1A243B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8FAFC"/>
                </a:solidFill>
                <a:latin typeface="Inter"/>
              </a:defRPr>
            </a:pPr>
            <a:r>
              <a:t>Reduced LV function</a:t>
            </a:r>
            <a:br/>
            <a:r>
              <a:t>EF 35%, moderate</a:t>
            </a:r>
            <a:br/>
            <a:r>
              <a:t>mitral regurgitation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Inter"/>
              </a:defRPr>
            </a:pPr>
            <a:r>
              <a:t>CMR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2560320" cy="1645920"/>
          </a:xfrm>
          <a:prstGeom prst="roundRect">
            <a:avLst>
              <a:gd name="adj" fmla="val 15000"/>
            </a:avLst>
          </a:prstGeom>
          <a:solidFill>
            <a:srgbClr val="1A243B"/>
          </a:solidFill>
          <a:ln w="1905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8FAFC"/>
                </a:solidFill>
                <a:latin typeface="Inter"/>
              </a:defRPr>
            </a:pPr>
            <a:r>
              <a:t>Late gadolinium</a:t>
            </a:r>
            <a:br/>
            <a:r>
              <a:t>enhancement in</a:t>
            </a:r>
            <a:br/>
            <a:r>
              <a:t>inferolateral wall</a:t>
            </a:r>
          </a:p>
        </p:txBody>
      </p:sp>
      <p:sp>
        <p:nvSpPr>
          <p:cNvPr id="9" name="Down Arrow 8"/>
          <p:cNvSpPr/>
          <p:nvPr/>
        </p:nvSpPr>
        <p:spPr>
          <a:xfrm>
            <a:off x="1737360" y="3657600"/>
            <a:ext cx="274320" cy="457200"/>
          </a:xfrm>
          <a:prstGeom prst="down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4663440" y="3657600"/>
            <a:ext cx="274320" cy="457200"/>
          </a:xfrm>
          <a:prstGeom prst="down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7589520" y="3657600"/>
            <a:ext cx="274320" cy="457200"/>
          </a:xfrm>
          <a:prstGeom prst="down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86000" y="4297680"/>
            <a:ext cx="7315200" cy="1828800"/>
          </a:xfrm>
          <a:prstGeom prst="roundRect">
            <a:avLst>
              <a:gd name="adj" fmla="val 15000"/>
            </a:avLst>
          </a:prstGeom>
          <a:solidFill>
            <a:srgbClr val="1E3A5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Inter"/>
              </a:defRPr>
            </a:pPr>
            <a:r>
              <a:t>Synthesized Report</a:t>
            </a:r>
            <a:br/>
            <a:br/>
            <a:r>
              <a:t>"The patient presents with atrial fibrillation, reduced left ventricular</a:t>
            </a:r>
            <a:br/>
            <a:r>
              <a:t>function (EF 35%), and evidence of prior myocardial infarction on CMR.</a:t>
            </a:r>
            <a:br/>
            <a:r>
              <a:t>These findings together suggest ischemic cardiomyopathy."</a:t>
            </a:r>
          </a:p>
        </p:txBody>
      </p:sp>
    </p:spTree>
  </p:cSld>
  <p:clrMapOvr>
    <a:masterClrMapping/>
  </p:clrMapOvr>
  <p:transition spd="med" advTm="3000">
    <p:fade thruBlk="1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0F172A"/>
                </a:solidFill>
                <a:latin typeface="Inter"/>
              </a:defRPr>
            </a:pPr>
            <a:r>
              <a:t>ARCHITECTURE AND TRAINING PIPELINE</a:t>
            </a:r>
          </a:p>
        </p:txBody>
      </p:sp>
      <p:pic>
        <p:nvPicPr>
          <p:cNvPr id="3" name="Picture 2" descr="fig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5303520"/>
          </a:xfrm>
          <a:prstGeom prst="rect">
            <a:avLst/>
          </a:prstGeom>
        </p:spPr>
      </p:pic>
    </p:spTree>
  </p:cSld>
  <p:clrMapOvr>
    <a:masterClrMapping/>
  </p:clrMapOvr>
  <p:transition spd="med" advTm="3000">
    <p:fade thruBlk="1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0F172A"/>
                </a:solidFill>
                <a:latin typeface="Inter"/>
              </a:defRPr>
            </a:pPr>
            <a:r>
              <a:t>PERFORMANCE</a:t>
            </a:r>
          </a:p>
        </p:txBody>
      </p:sp>
      <p:pic>
        <p:nvPicPr>
          <p:cNvPr id="3" name="Picture 2" descr="fig2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5303520"/>
          </a:xfrm>
          <a:prstGeom prst="rect">
            <a:avLst/>
          </a:prstGeom>
        </p:spPr>
      </p:pic>
    </p:spTree>
  </p:cSld>
  <p:clrMapOvr>
    <a:masterClrMapping/>
  </p:clrMapOvr>
  <p:transition spd="med" advTm="3000">
    <p:fade thruBlk="1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 i="0">
                <a:solidFill>
                  <a:srgbClr val="FFFFFF"/>
                </a:solidFill>
                <a:latin typeface="Inter"/>
              </a:defRPr>
            </a:pPr>
            <a:r>
              <a:t>MARCUS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4648" y="2926080"/>
            <a:ext cx="18288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291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1">
                <a:solidFill>
                  <a:srgbClr val="94A3B8"/>
                </a:solidFill>
                <a:latin typeface="Inter"/>
              </a:defRPr>
            </a:pPr>
            <a:r>
              <a:t>An agentic, multimodal vision-language model</a:t>
            </a:r>
            <a:br/>
            <a:r>
              <a:t>for cardiac diagnosis and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3B82F6"/>
                </a:solidFill>
                <a:latin typeface="Inter"/>
              </a:defRPr>
            </a:pPr>
            <a:r>
              <a:t>github.com/masadi-99/MARCUS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120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64748B"/>
                </a:solidFill>
                <a:latin typeface="Inter"/>
              </a:defRPr>
            </a:pPr>
            <a:r>
              <a:t>Stanford University  |  UCSF</a:t>
            </a:r>
          </a:p>
        </p:txBody>
      </p:sp>
    </p:spTree>
  </p:cSld>
  <p:clrMapOvr>
    <a:masterClrMapping/>
  </p:clrMapOvr>
  <p:transition spd="med" advTm="3000">
    <p:fade thruBlk="1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